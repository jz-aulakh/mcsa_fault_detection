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70" r:id="rId11"/>
    <p:sldId id="266" r:id="rId12"/>
    <p:sldId id="267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36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88EA00-C733-4C1E-9E45-C1A9E1950ADF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07560-EDD0-42DD-9164-E25B4BCE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71A59-A9E0-4F3B-A945-1281C6B0177D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3AF0-4296-4F15-9787-122FCDE127FC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28418-E189-4A72-8269-9F6260975768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DBA54-B093-41C9-93AD-D7F2DE6A49D5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1F7D6-F912-4EA6-8055-7354E6081DEE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82ED-84E1-4093-AAA8-2D15BE736BB2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0D47-242C-4474-A513-38B0E2048808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D05FD-B791-4CEA-A940-1BC969643C8F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6CC57-8EAD-4CFD-A7D5-BEF7EDD57A16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B5345-4336-4843-AC50-FCB07DFC017A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0000-5E23-4890-BA43-D177BEEA5D65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0BD40-021C-47D3-AB9F-68CE7EAEC953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8390117" TargetMode="External"/><Relationship Id="rId2" Type="http://schemas.openxmlformats.org/officeDocument/2006/relationships/hyperlink" Target="https://www.sciencedirect.com/science/article/pii/S2772671125001147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a.mendeley.com/datasets/gxdd74czwh/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710" y="375462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Motor Fault Detection Using MCSA &amp; Machine Learning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BA07C8-14A5-2E5D-906C-22FBEFDA8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283449"/>
              </p:ext>
            </p:extLst>
          </p:nvPr>
        </p:nvGraphicFramePr>
        <p:xfrm>
          <a:off x="1435510" y="3459972"/>
          <a:ext cx="60960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18962985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29746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CMS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728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MUHAMMAD HUSSAIN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457358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047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SAMI HAIDER MIRZA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469908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004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MUHAMMAD JAHAN ZAIB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458924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72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RANA MUHAMMAD BILAL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465138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7564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DA72F8-0B02-B0D5-3AB1-956F3DA35D14}"/>
              </a:ext>
            </a:extLst>
          </p:cNvPr>
          <p:cNvSpPr txBox="1"/>
          <p:nvPr/>
        </p:nvSpPr>
        <p:spPr>
          <a:xfrm>
            <a:off x="2787445" y="1636449"/>
            <a:ext cx="356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ELECTRICAL MACHINES  EE-260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40C7CF-2B6A-5500-F552-9DA77E1C94FA}"/>
              </a:ext>
            </a:extLst>
          </p:cNvPr>
          <p:cNvSpPr txBox="1"/>
          <p:nvPr/>
        </p:nvSpPr>
        <p:spPr>
          <a:xfrm>
            <a:off x="2585884" y="2123768"/>
            <a:ext cx="4812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INSTRUCTOR NAME: DR. FARID GUL</a:t>
            </a:r>
          </a:p>
          <a:p>
            <a:r>
              <a:rPr lang="en-US" dirty="0"/>
              <a:t>LAB ENGINEER NAME : YASIR RIZWAN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5BAB79-A9B3-99A6-0EC7-162B6E4D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500" dirty="0">
                <a:solidFill>
                  <a:schemeClr val="bg1"/>
                </a:solidFill>
              </a:rPr>
              <a:t>Introduction to Induction Motor Fault Detection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DA1FB1-921E-E58E-184C-B803BE9CBF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6661" y="2217343"/>
            <a:ext cx="7410669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Background: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Induction motors are critical components in industrial applications, accounting for 40-50% of industrial electricity consumption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Problem Statement: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Unexpected motor failures lead to costly downtime, production losses, and safety hazards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Types of Faults Studied: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Bearing faults: Broken Rotor Bar (BRB), Ball Fault Inner race (BFI), Ball Fault Outer race (BFO)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Fault severity levels: 100, 200, 300 (representing increasing damage)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Solution Approach: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Early fault detection using current signature analysis and machine learning classification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25321-9CCC-5B63-87F1-3D64CC8A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Dataset and Experimental Setup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7CD9F3-D7A5-939C-76FA-FDF41B06E5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6661" y="2217343"/>
            <a:ext cx="7410669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Motor Specifications: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Three-phase induction motor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 Collection: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Current measurements from all three phases (Phase A, B, C)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Sampling Rate: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10,000 Hz 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Dataset Structure: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9 classes: Healthy, BRB100, BRB300, BFI100, BFI200, BFI300, BFO100, BFO200, BFO300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Each CSV file contains time-series current data (rows = timestamps, columns = phases)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 Split: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60% Training, 20% Validation, 20% Testing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D48D9A-802A-AEBC-4E7E-F87B236C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Signal Processing Architecture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b="1"/>
              <a:t>Two-Domain Analysis Approach:</a:t>
            </a:r>
            <a:endParaRPr lang="en-US" sz="1800"/>
          </a:p>
          <a:p>
            <a:pPr>
              <a:lnSpc>
                <a:spcPct val="90000"/>
              </a:lnSpc>
            </a:pPr>
            <a:r>
              <a:rPr lang="en-US" sz="1800" b="1"/>
              <a:t>Time-Domain Features:</a:t>
            </a:r>
            <a:r>
              <a:rPr lang="en-US" sz="1800"/>
              <a:t> 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800"/>
              <a:t>Raw current waveform analysis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800"/>
              <a:t>Statistical features (mean, std, RMS)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800"/>
              <a:t>Amplitude modulation patterns</a:t>
            </a:r>
          </a:p>
          <a:p>
            <a:pPr>
              <a:lnSpc>
                <a:spcPct val="90000"/>
              </a:lnSpc>
            </a:pPr>
            <a:r>
              <a:rPr lang="en-US" sz="1800" b="1"/>
              <a:t>Frequency-Domain Features (FFT):</a:t>
            </a:r>
            <a:r>
              <a:rPr lang="en-US" sz="1800"/>
              <a:t> 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800"/>
              <a:t>Focus on 40-70 Hz range (around supply frequency)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800"/>
              <a:t>6 features per phase (18 total): </a:t>
            </a:r>
          </a:p>
          <a:p>
            <a:pPr lvl="2">
              <a:lnSpc>
                <a:spcPct val="90000"/>
              </a:lnSpc>
            </a:pPr>
            <a:r>
              <a:rPr lang="en-US" sz="1800"/>
              <a:t>Peak magnitude, Mean magnitude</a:t>
            </a:r>
          </a:p>
          <a:p>
            <a:pPr lvl="2">
              <a:lnSpc>
                <a:spcPct val="90000"/>
              </a:lnSpc>
            </a:pPr>
            <a:r>
              <a:rPr lang="en-US" sz="1800"/>
              <a:t>Supply frequency (50 Hz) magnitude</a:t>
            </a:r>
          </a:p>
          <a:p>
            <a:pPr lvl="2">
              <a:lnSpc>
                <a:spcPct val="90000"/>
              </a:lnSpc>
            </a:pPr>
            <a:r>
              <a:rPr lang="en-US" sz="1800"/>
              <a:t>Sideband asymmetry (left vs right)</a:t>
            </a:r>
          </a:p>
          <a:p>
            <a:pPr lvl="2">
              <a:lnSpc>
                <a:spcPct val="90000"/>
              </a:lnSpc>
            </a:pPr>
            <a:r>
              <a:rPr lang="en-US" sz="1800"/>
              <a:t>Total sideband power</a:t>
            </a:r>
          </a:p>
          <a:p>
            <a:pPr lvl="2">
              <a:lnSpc>
                <a:spcPct val="90000"/>
              </a:lnSpc>
            </a:pPr>
            <a:r>
              <a:rPr lang="en-US" sz="1800"/>
              <a:t>Peak frequency location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E41D8-D817-7F42-3C06-7209F7A69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542" y="0"/>
            <a:ext cx="8229600" cy="890382"/>
          </a:xfrm>
        </p:spPr>
        <p:txBody>
          <a:bodyPr/>
          <a:lstStyle/>
          <a:p>
            <a:r>
              <a:rPr lang="en-US" dirty="0"/>
              <a:t>Machine Learning Models</a:t>
            </a:r>
            <a:endParaRPr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74EB477-6AC2-36BA-67AC-EC4BC96B4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146251"/>
              </p:ext>
            </p:extLst>
          </p:nvPr>
        </p:nvGraphicFramePr>
        <p:xfrm>
          <a:off x="535858" y="748071"/>
          <a:ext cx="814602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3013">
                  <a:extLst>
                    <a:ext uri="{9D8B030D-6E8A-4147-A177-3AD203B41FA5}">
                      <a16:colId xmlns:a16="http://schemas.microsoft.com/office/drawing/2014/main" val="2019603638"/>
                    </a:ext>
                  </a:extLst>
                </a:gridCol>
                <a:gridCol w="4073013">
                  <a:extLst>
                    <a:ext uri="{9D8B030D-6E8A-4147-A177-3AD203B41FA5}">
                      <a16:colId xmlns:a16="http://schemas.microsoft.com/office/drawing/2014/main" val="1296574588"/>
                    </a:ext>
                  </a:extLst>
                </a:gridCol>
              </a:tblGrid>
              <a:tr h="332965">
                <a:tc>
                  <a:txBody>
                    <a:bodyPr/>
                    <a:lstStyle/>
                    <a:p>
                      <a:r>
                        <a:rPr lang="en-US" dirty="0"/>
                        <a:t>TRAINING 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140935"/>
                  </a:ext>
                </a:extLst>
              </a:tr>
              <a:tr h="332965">
                <a:tc>
                  <a:txBody>
                    <a:bodyPr/>
                    <a:lstStyle/>
                    <a:p>
                      <a:r>
                        <a:rPr lang="en-US" dirty="0"/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0.2951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037421"/>
                  </a:ext>
                </a:extLst>
              </a:tr>
              <a:tr h="332965"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497362"/>
                  </a:ext>
                </a:extLst>
              </a:tr>
              <a:tr h="332965">
                <a:tc>
                  <a:txBody>
                    <a:bodyPr/>
                    <a:lstStyle/>
                    <a:p>
                      <a:r>
                        <a:rPr lang="en-US" dirty="0"/>
                        <a:t>Linear Discriminant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653094"/>
                  </a:ext>
                </a:extLst>
              </a:tr>
              <a:tr h="332965">
                <a:tc>
                  <a:txBody>
                    <a:bodyPr/>
                    <a:lstStyle/>
                    <a:p>
                      <a:r>
                        <a:rPr lang="en-US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611520"/>
                  </a:ext>
                </a:extLst>
              </a:tr>
              <a:tr h="332965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20550"/>
                  </a:ext>
                </a:extLst>
              </a:tr>
              <a:tr h="332965">
                <a:tc>
                  <a:txBody>
                    <a:bodyPr/>
                    <a:lstStyle/>
                    <a:p>
                      <a:r>
                        <a:rPr lang="en-US" dirty="0"/>
                        <a:t>AdaBoost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113325"/>
                  </a:ext>
                </a:extLst>
              </a:tr>
              <a:tr h="332965">
                <a:tc>
                  <a:txBody>
                    <a:bodyPr/>
                    <a:lstStyle/>
                    <a:p>
                      <a:r>
                        <a:rPr lang="en-US" dirty="0"/>
                        <a:t> Quadratic Discriminant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0.5390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432059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0EF08108-D733-2D71-E475-53FF031ED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59" y="3674151"/>
            <a:ext cx="4036142" cy="19056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615F29-3C55-E6FF-CCE5-860AD80A1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871" y="3674151"/>
            <a:ext cx="4109883" cy="1905627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6FAD720-11DE-70D8-8198-5E50ED127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DFF730-655B-6C2E-33CF-4302E8544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Time Domain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CAA7F9-F469-D1C8-349C-B3CF8736D7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16" r="20259" b="-1"/>
          <a:stretch>
            <a:fillRect/>
          </a:stretch>
        </p:blipFill>
        <p:spPr>
          <a:xfrm>
            <a:off x="366556" y="2365285"/>
            <a:ext cx="3909935" cy="39387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41E09B-529B-6B52-5AA2-79F6EA3862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970" b="-2"/>
          <a:stretch>
            <a:fillRect/>
          </a:stretch>
        </p:blipFill>
        <p:spPr>
          <a:xfrm>
            <a:off x="4867487" y="2365285"/>
            <a:ext cx="3909977" cy="3938756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119F84-A42D-3D92-D657-44B2E1385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12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Time Domain Healthy vs Defective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CD0F46-7274-16FE-A788-302EF53AE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49" y="1675227"/>
            <a:ext cx="6708700" cy="439419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453E7-6397-B5D6-CA39-C9006107D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FFT 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F66D76-3C64-7E0A-CB2C-C3D617192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083214"/>
            <a:ext cx="8178799" cy="3578224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94CBBC-31F2-D68F-813D-3498E2F46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Confusion Matrix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85B74-7B4C-8C41-2B86-FA468D21E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69" y="1675227"/>
            <a:ext cx="6892861" cy="439419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E2159-605B-90BD-7CC7-EA70888C0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E96FD-91B2-20F1-3C0B-89A588D93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Different Models with Accuracy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30E9A3-0CB5-3490-1AE1-F89B109F1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735615"/>
            <a:ext cx="8178799" cy="427342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7A328-3002-166F-D000-5170B4B14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04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100" b="1"/>
              <a:t>Major Achievements:</a:t>
            </a:r>
            <a:endParaRPr lang="en-US" sz="2100"/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100"/>
              <a:t>Successfully developed ML-based motor fault classifier with 99.8% accuracy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100"/>
              <a:t>Identified optimal frequency range (40-70 Hz) for bearing fault detection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100"/>
              <a:t>Random Forest proved most effective among 7 ML algorithms tested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100" b="1"/>
              <a:t>Practical Benefits:</a:t>
            </a:r>
            <a:endParaRPr lang="en-US" sz="2100"/>
          </a:p>
          <a:p>
            <a:pPr marL="400050" lvl="1" indent="0">
              <a:lnSpc>
                <a:spcPct val="90000"/>
              </a:lnSpc>
              <a:buNone/>
            </a:pPr>
            <a:r>
              <a:rPr lang="en-US" sz="2100"/>
              <a:t>Non-invasive condition monitoring (current sensors only)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sz="2100"/>
              <a:t>Real-time fault detection capability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sz="2100"/>
              <a:t>Reduces maintenance costs through predictive maintenance</a:t>
            </a:r>
          </a:p>
          <a:p>
            <a:pPr marL="0" indent="0">
              <a:lnSpc>
                <a:spcPct val="90000"/>
              </a:lnSpc>
              <a:buNone/>
            </a:pPr>
            <a:endParaRPr lang="en-US" sz="21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33FFC-5921-E029-ED6A-D16BB30E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Current Research Areas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A76986-215E-123C-BECE-6EEB4FE2DC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6661" y="2217343"/>
            <a:ext cx="7410669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Deep Learning Approaches: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CNNs and LSTMs for automatic feature extraction from raw signals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Transfer learning to reduce training data requirements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Attention mechanisms identifying critical fault patterns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Multi-Sensor Fusion &amp; IoT Integration: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Integration of current, vibration, thermal, and acoustic sensors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Edge computing for real-time monitoring with low-power devices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Cloud-based predictive maintenance platforms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Explainable AI (XAI):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Interpretable models using SHAP and LIME techniques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Feature importance visualization for maintenance personnel 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Transparent fault diagnosis for operator trust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1898F-93B7-AF67-A48E-75C01FA3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8C925-CAFA-A70B-87A2-F5FB0CBDD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80573-6328-29D0-758A-578C0CA12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>
                <a:hlinkClick r:id="rId2"/>
              </a:rPr>
              <a:t>Analysis of multiple faults in induction motor using machine learning techniques</a:t>
            </a:r>
            <a:endParaRPr lang="en-US" sz="2100"/>
          </a:p>
          <a:p>
            <a:pPr marL="0" indent="0">
              <a:buNone/>
            </a:pPr>
            <a:r>
              <a:rPr lang="en-US" sz="2100">
                <a:hlinkClick r:id="rId3"/>
              </a:rPr>
              <a:t>Fault detection in induction motors based on motor current signature analysis and accelerometer</a:t>
            </a:r>
            <a:endParaRPr lang="en-US" sz="2100"/>
          </a:p>
          <a:p>
            <a:pPr marL="0" indent="0">
              <a:buNone/>
            </a:pPr>
            <a:r>
              <a:rPr lang="en-US" sz="2100"/>
              <a:t>Dataset from Mehran University of Engineering and Technology</a:t>
            </a:r>
          </a:p>
          <a:p>
            <a:pPr marL="0" indent="0">
              <a:buNone/>
            </a:pPr>
            <a:r>
              <a:rPr lang="en-US" sz="2100">
                <a:hlinkClick r:id="rId4"/>
              </a:rPr>
              <a:t>Current Signature Dataset of Three-Phase Induction Motor under Varying Load Conditions</a:t>
            </a:r>
            <a:endParaRPr lang="en-US" sz="2100"/>
          </a:p>
          <a:p>
            <a:pPr marL="0" indent="0">
              <a:buNone/>
            </a:pPr>
            <a:endParaRPr lang="en-US" sz="21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D959A-7C3C-DE85-EF5B-C88AC83A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748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541</Words>
  <Application>Microsoft Office PowerPoint</Application>
  <PresentationFormat>On-screen Show (4:3)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Motor Fault Detection Using MCSA &amp; Machine Learning</vt:lpstr>
      <vt:lpstr>Introduction to Induction Motor Fault Detection</vt:lpstr>
      <vt:lpstr>Dataset and Experimental Setup</vt:lpstr>
      <vt:lpstr>Signal Processing Architecture</vt:lpstr>
      <vt:lpstr>Machine Learning Models</vt:lpstr>
      <vt:lpstr>Time Domain Analysis</vt:lpstr>
      <vt:lpstr>Time Domain Healthy vs Defective</vt:lpstr>
      <vt:lpstr>FFT Analysis</vt:lpstr>
      <vt:lpstr>Confusion Matrix Analysis</vt:lpstr>
      <vt:lpstr>Different Models with Accuracy</vt:lpstr>
      <vt:lpstr>Conclusion</vt:lpstr>
      <vt:lpstr>Current Research Areas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 Jahan Zaib</dc:creator>
  <cp:keywords/>
  <dc:description>generated using python-pptx</dc:description>
  <cp:lastModifiedBy>Muhammad Jahan Zaib</cp:lastModifiedBy>
  <cp:revision>2</cp:revision>
  <dcterms:created xsi:type="dcterms:W3CDTF">2013-01-27T09:14:16Z</dcterms:created>
  <dcterms:modified xsi:type="dcterms:W3CDTF">2025-12-11T09:00:48Z</dcterms:modified>
  <cp:category/>
</cp:coreProperties>
</file>